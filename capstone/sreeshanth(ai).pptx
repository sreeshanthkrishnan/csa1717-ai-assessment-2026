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5"/>
  </p:notesMasterIdLst>
  <p:sldIdLst>
    <p:sldId id="256" r:id="rId2"/>
    <p:sldId id="257" r:id="rId3"/>
    <p:sldId id="258" r:id="rId4"/>
    <p:sldId id="269" r:id="rId5"/>
    <p:sldId id="270" r:id="rId6"/>
    <p:sldId id="271" r:id="rId7"/>
    <p:sldId id="261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4966AE-E840-4B67-AA77-21BCA6BFF26B}" v="1" dt="2026-08-01T04:06:48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67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shanthkrishna@outlook.com" userId="3a9c6da0285ff2d7" providerId="LiveId" clId="{D47491E7-E60B-4E27-ABA0-2B357E41AB36}"/>
    <pc:docChg chg="custSel modSld">
      <pc:chgData name="sreeshanthkrishna@outlook.com" userId="3a9c6da0285ff2d7" providerId="LiveId" clId="{D47491E7-E60B-4E27-ABA0-2B357E41AB36}" dt="2026-08-01T04:58:19.252" v="130" actId="1076"/>
      <pc:docMkLst>
        <pc:docMk/>
      </pc:docMkLst>
      <pc:sldChg chg="addSp modSp mod">
        <pc:chgData name="sreeshanthkrishna@outlook.com" userId="3a9c6da0285ff2d7" providerId="LiveId" clId="{D47491E7-E60B-4E27-ABA0-2B357E41AB36}" dt="2026-08-01T04:21:31.590" v="128" actId="1076"/>
        <pc:sldMkLst>
          <pc:docMk/>
          <pc:sldMk cId="0" sldId="256"/>
        </pc:sldMkLst>
        <pc:spChg chg="mod">
          <ac:chgData name="sreeshanthkrishna@outlook.com" userId="3a9c6da0285ff2d7" providerId="LiveId" clId="{D47491E7-E60B-4E27-ABA0-2B357E41AB36}" dt="2026-08-01T04:19:37.259" v="127" actId="2711"/>
          <ac:spMkLst>
            <pc:docMk/>
            <pc:sldMk cId="0" sldId="256"/>
            <ac:spMk id="3" creationId="{00000000-0000-0000-0000-000000000000}"/>
          </ac:spMkLst>
        </pc:spChg>
        <pc:spChg chg="add mod">
          <ac:chgData name="sreeshanthkrishna@outlook.com" userId="3a9c6da0285ff2d7" providerId="LiveId" clId="{D47491E7-E60B-4E27-ABA0-2B357E41AB36}" dt="2026-08-01T04:21:31.590" v="128" actId="1076"/>
          <ac:spMkLst>
            <pc:docMk/>
            <pc:sldMk cId="0" sldId="256"/>
            <ac:spMk id="8" creationId="{2422BB02-F4C3-3B36-5318-1F71BD582233}"/>
          </ac:spMkLst>
        </pc:spChg>
      </pc:sldChg>
      <pc:sldChg chg="modSp mod">
        <pc:chgData name="sreeshanthkrishna@outlook.com" userId="3a9c6da0285ff2d7" providerId="LiveId" clId="{D47491E7-E60B-4E27-ABA0-2B357E41AB36}" dt="2026-08-01T04:10:39.136" v="50" actId="403"/>
        <pc:sldMkLst>
          <pc:docMk/>
          <pc:sldMk cId="0" sldId="257"/>
        </pc:sldMkLst>
        <pc:spChg chg="mod">
          <ac:chgData name="sreeshanthkrishna@outlook.com" userId="3a9c6da0285ff2d7" providerId="LiveId" clId="{D47491E7-E60B-4E27-ABA0-2B357E41AB36}" dt="2026-08-01T04:10:39.136" v="50" actId="403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sreeshanthkrishna@outlook.com" userId="3a9c6da0285ff2d7" providerId="LiveId" clId="{D47491E7-E60B-4E27-ABA0-2B357E41AB36}" dt="2026-08-01T04:11:21.389" v="59" actId="255"/>
        <pc:sldMkLst>
          <pc:docMk/>
          <pc:sldMk cId="0" sldId="258"/>
        </pc:sldMkLst>
        <pc:spChg chg="mod">
          <ac:chgData name="sreeshanthkrishna@outlook.com" userId="3a9c6da0285ff2d7" providerId="LiveId" clId="{D47491E7-E60B-4E27-ABA0-2B357E41AB36}" dt="2026-08-01T04:11:21.389" v="59" actId="25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sreeshanthkrishna@outlook.com" userId="3a9c6da0285ff2d7" providerId="LiveId" clId="{D47491E7-E60B-4E27-ABA0-2B357E41AB36}" dt="2026-08-01T04:13:43.037" v="63" actId="113"/>
        <pc:sldMkLst>
          <pc:docMk/>
          <pc:sldMk cId="0" sldId="261"/>
        </pc:sldMkLst>
        <pc:spChg chg="mod">
          <ac:chgData name="sreeshanthkrishna@outlook.com" userId="3a9c6da0285ff2d7" providerId="LiveId" clId="{D47491E7-E60B-4E27-ABA0-2B357E41AB36}" dt="2026-08-01T04:13:43.037" v="63" actId="113"/>
          <ac:spMkLst>
            <pc:docMk/>
            <pc:sldMk cId="0" sldId="261"/>
            <ac:spMk id="8" creationId="{02841E73-2D44-5478-1E56-0CB939FF0905}"/>
          </ac:spMkLst>
        </pc:spChg>
      </pc:sldChg>
      <pc:sldChg chg="modSp mod">
        <pc:chgData name="sreeshanthkrishna@outlook.com" userId="3a9c6da0285ff2d7" providerId="LiveId" clId="{D47491E7-E60B-4E27-ABA0-2B357E41AB36}" dt="2026-08-01T04:58:19.252" v="130" actId="1076"/>
        <pc:sldMkLst>
          <pc:docMk/>
          <pc:sldMk cId="2862751832" sldId="269"/>
        </pc:sldMkLst>
        <pc:spChg chg="mod">
          <ac:chgData name="sreeshanthkrishna@outlook.com" userId="3a9c6da0285ff2d7" providerId="LiveId" clId="{D47491E7-E60B-4E27-ABA0-2B357E41AB36}" dt="2026-08-01T04:58:19.252" v="130" actId="1076"/>
          <ac:spMkLst>
            <pc:docMk/>
            <pc:sldMk cId="2862751832" sldId="269"/>
            <ac:spMk id="2" creationId="{26D9B35B-3C47-7130-7ECC-AB0E0BD3BF05}"/>
          </ac:spMkLst>
        </pc:spChg>
        <pc:spChg chg="mod">
          <ac:chgData name="sreeshanthkrishna@outlook.com" userId="3a9c6da0285ff2d7" providerId="LiveId" clId="{D47491E7-E60B-4E27-ABA0-2B357E41AB36}" dt="2026-08-01T04:12:19.335" v="62" actId="27636"/>
          <ac:spMkLst>
            <pc:docMk/>
            <pc:sldMk cId="2862751832" sldId="269"/>
            <ac:spMk id="3" creationId="{C27A8B2F-A74D-4F71-C46E-AA737005F4A6}"/>
          </ac:spMkLst>
        </pc:spChg>
      </pc:sldChg>
      <pc:sldChg chg="modSp mod">
        <pc:chgData name="sreeshanthkrishna@outlook.com" userId="3a9c6da0285ff2d7" providerId="LiveId" clId="{D47491E7-E60B-4E27-ABA0-2B357E41AB36}" dt="2026-08-01T04:09:56.948" v="47" actId="113"/>
        <pc:sldMkLst>
          <pc:docMk/>
          <pc:sldMk cId="2640301661" sldId="271"/>
        </pc:sldMkLst>
        <pc:spChg chg="mod">
          <ac:chgData name="sreeshanthkrishna@outlook.com" userId="3a9c6da0285ff2d7" providerId="LiveId" clId="{D47491E7-E60B-4E27-ABA0-2B357E41AB36}" dt="2026-08-01T04:09:56.948" v="47" actId="113"/>
          <ac:spMkLst>
            <pc:docMk/>
            <pc:sldMk cId="2640301661" sldId="271"/>
            <ac:spMk id="3" creationId="{D906C049-40CB-2430-71D0-B9C7DD653E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00B924-0DA4-48BB-BE64-4E080032CE1E}" type="datetimeFigureOut">
              <a:rPr lang="en-IN" smtClean="0"/>
              <a:t>01-08-2026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E111F-33BE-4092-8A9C-3391A958C3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6581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88C91-74C3-4C1A-8AF3-24AC5A97A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2802A-00BB-B3F4-801C-3FA8BF1AB7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0D7AB-F2E8-9068-855C-2A102DA29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B8E86-143C-4B92-830A-C20F8D64A78D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E4CD8-2A76-C300-CC34-5A0223FB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FC962B-B04C-661C-360F-3E647033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68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71D14-E6E8-A90A-4724-1E2207282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E9BAD-77EE-4C0C-9EA0-1E788F89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12519-7D4B-7AEC-6508-90C2C9D7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A817A-3CDA-4F28-90D4-5ED96BE3B77D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1C7EC-80B4-898E-7DE5-B7D6DF2E1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94DCF-695F-F70D-2CA1-B970F4394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4D76-4654-08B4-685C-8D3E35804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E9E9D6-36F0-2AAE-DB47-FD6875FC4B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BC540-77C6-BC3D-BEA9-AEC916CCB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BD26D-4846-4A8D-838B-E79C5F31D229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E1FB0-5A91-917B-0C1B-17CFEB62C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2993F-45EC-18E2-76B0-6D5691D3F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39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0D7BB-7F0F-7AE5-4B79-B2772FD03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00A79-FBE9-7A5F-9D24-3179CA2F86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38281-729D-0CDE-C860-1E9C6ECCF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677A30-2D4F-C015-FADE-E803642DA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E2405-84DC-40CE-A9AC-BA4AB6FC5E22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2481CA-8CF1-4B6B-B6A1-0CA08E004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6D949B-3161-25BE-478B-6BA41B5C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675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67290-3879-A767-9EF6-FC6C09AD2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A7C44-CE85-C839-6C27-2710B4C3F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3C296-2166-8B4A-3974-6B2609346C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1F9501-A248-B3D1-4A26-985B7B3E6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625D84-8E3C-3724-C86C-889F94B334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90C18D-03EC-A947-9ABD-0299F8B28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DE10E-637F-447E-9BAE-F16FC9FBB3E1}" type="datetime1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6A4741-673A-2C62-5153-29A5DEFCD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0C747B-44B6-4B32-EFF1-663F0FD64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492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FE302-141E-3C8C-8028-DB5BD55F2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3EBE0-0250-806F-0881-292973D26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AC816-8E1C-4545-B763-54FB0C503F99}" type="datetime1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BCF5E-52E3-8ECA-CF80-9F48E6E07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1550B-CE82-98C1-C478-EACFB8BBD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48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7BD20-0D22-FEB3-6782-41A79BA34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C0822-AAA8-422B-A45F-3371D05CAF9F}" type="datetime1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E9FF45-6BFF-E894-599A-7116F1FED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559278-DE0D-AEF4-573D-4C5D5B7A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F1989-3F7D-6355-3518-D3FCB6B3C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15C13-5490-9E8B-B9FF-3795F0DBB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BE136C-462E-FE95-17E4-93AA640E3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F0167-6A3F-1533-8A63-7830B1904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C1C12-C49D-4D24-AFDE-6B709143CB14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3DAE5-8347-D4A5-0838-A2D592844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43CD1-2563-CB3C-18CC-9A3EAD52E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5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35965-7BFB-3187-C1EC-3C53AAB64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15B30A-548E-0ECC-330D-15E208444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101571-2C7F-1A99-6280-FD0C9DDFA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CD8DD-A7B0-D2B0-D5B8-EC598138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40B59-9A69-4476-AE51-DEF8D144D3C3}" type="datetime1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819F19-A998-EF69-487D-AC7652B40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ABEB15-E12A-055E-B255-E6169478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7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0D62-A4F2-A258-5071-805B3D8A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DDDAB-518D-DE51-95F3-25A0325AF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6B295-24B8-5E6B-2253-325AE1F1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9A6291-B1B7-4238-BEC2-07C2C45BA657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7E7A2-ED51-7579-2775-9445B1BD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3284-CC82-5953-14B2-5F48258FA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78044E-95D0-1834-7E8E-53A7FC4281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CFFC47-66F7-E220-80B6-5988C03ED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C2A6-8B50-EEBD-A25E-20399AE6A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88BE8-B206-4417-925A-537BFC24EDA7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8B337-E439-B21E-F690-58904E74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01D6B-9AC8-963B-CB1B-7CC95490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530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D70FA7-C699-A726-9711-BE80AD32D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5F879-5DF5-2B1C-74E1-01D1B4734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BFCD8-F42A-BA27-F345-1EFE6C8B46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94A92-298E-4B60-9823-6B8C659F42D4}" type="datetime1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C4A62B-8196-E684-F9F5-85D96668FC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DA2DE-A753-60A6-B22E-803954FCCF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03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2829" y="1237542"/>
            <a:ext cx="8689976" cy="2509213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dirty="0"/>
              <a:t>AI-Based Intelligent Intrusion Detection and Real-Time Security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73445" y="4490217"/>
            <a:ext cx="8534400" cy="2339413"/>
          </a:xfrm>
        </p:spPr>
        <p:txBody>
          <a:bodyPr>
            <a:normAutofit/>
          </a:bodyPr>
          <a:lstStyle/>
          <a:p>
            <a:r>
              <a:rPr lang="en-IN" alt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Sreeshanth </a:t>
            </a:r>
            <a:r>
              <a:rPr lang="en-IN" alt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Basineni</a:t>
            </a:r>
            <a:r>
              <a:rPr lang="en-IN" alt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(192372238)                   </a:t>
            </a:r>
          </a:p>
          <a:p>
            <a:r>
              <a:rPr lang="en-US" alt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    </a:t>
            </a:r>
            <a:r>
              <a:rPr lang="en-US" altLang="en-IN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Uchuru</a:t>
            </a:r>
            <a:r>
              <a:rPr lang="en-US" alt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Pavanesh Reddy(192372103)</a:t>
            </a:r>
          </a:p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CSA-1717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Artificial Intelligence  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ACB54-62EA-C77C-3D63-34780384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22BB02-F4C3-3B36-5318-1F71BD582233}"/>
              </a:ext>
            </a:extLst>
          </p:cNvPr>
          <p:cNvSpPr txBox="1"/>
          <p:nvPr/>
        </p:nvSpPr>
        <p:spPr>
          <a:xfrm>
            <a:off x="-1388382" y="4459594"/>
            <a:ext cx="68039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algn="ctr">
              <a:lnSpc>
                <a:spcPct val="100000"/>
              </a:lnSpc>
            </a:pPr>
            <a:r>
              <a:rPr lang="en-US" sz="2400" dirty="0">
                <a:cs typeface="Times New Roman" panose="02020603050405020304" pitchFamily="18" charset="0"/>
              </a:rPr>
              <a:t>Supervised by:</a:t>
            </a:r>
          </a:p>
          <a:p>
            <a:pPr marL="12700" marR="5080" algn="ctr">
              <a:lnSpc>
                <a:spcPct val="100000"/>
              </a:lnSpc>
            </a:pPr>
            <a:r>
              <a:rPr lang="en-US" sz="2400" dirty="0" err="1">
                <a:cs typeface="Times New Roman" panose="02020603050405020304" pitchFamily="18" charset="0"/>
              </a:rPr>
              <a:t>Dr.Anoop.M</a:t>
            </a:r>
            <a:endParaRPr lang="en-US" sz="2400" dirty="0">
              <a:cs typeface="Times New Roman" panose="02020603050405020304" pitchFamily="18" charset="0"/>
            </a:endParaRPr>
          </a:p>
          <a:p>
            <a:pPr marL="12700" marR="5080" algn="ctr">
              <a:lnSpc>
                <a:spcPct val="100000"/>
              </a:lnSpc>
            </a:pPr>
            <a:endParaRPr lang="en-US" sz="2400" b="1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7666" y="821009"/>
            <a:ext cx="8596668" cy="1320800"/>
          </a:xfrm>
        </p:spPr>
        <p:txBody>
          <a:bodyPr/>
          <a:lstStyle/>
          <a:p>
            <a:pPr algn="ctr"/>
            <a:r>
              <a:rPr dirty="0">
                <a:latin typeface="Times New Roman" panose="02020603050405020304" charset="0"/>
                <a:cs typeface="Times New Roman" panose="02020603050405020304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252" y="2141809"/>
            <a:ext cx="10364452" cy="4003352"/>
          </a:xfrm>
        </p:spPr>
        <p:txBody>
          <a:bodyPr>
            <a:noAutofit/>
          </a:bodyPr>
          <a:lstStyle/>
          <a:p>
            <a:pPr algn="just"/>
            <a:endParaRPr dirty="0"/>
          </a:p>
          <a:p>
            <a:pPr algn="just">
              <a:defRPr sz="2000"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This project aims to develop an </a:t>
            </a:r>
            <a:r>
              <a:rPr lang="en-US" altLang="en-US" sz="2400" b="1" dirty="0"/>
              <a:t>AI-Based Intelligent Intrusion Detection and Real-Time Security Monitoring System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. The system is designed using three main modules:</a:t>
            </a:r>
          </a:p>
          <a:p>
            <a:pPr algn="just">
              <a:defRPr sz="2000"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Motion Detection and Surveillance Module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– continuously monitors the environment using a camera to detect any movement.</a:t>
            </a:r>
          </a:p>
          <a:p>
            <a:pPr algn="just">
              <a:defRPr sz="2000"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Human Detection and Face Recognition Module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– identifies if the detected object is a human and verifies their identity by comparing their face with known faces in the database.</a:t>
            </a:r>
          </a:p>
          <a:p>
            <a:pPr algn="just">
              <a:defRPr sz="2000"/>
            </a:pPr>
            <a:r>
              <a:rPr lang="en-US" altLang="en-US" sz="2400" b="1" dirty="0">
                <a:latin typeface="Times New Roman" panose="02020603050405020304" charset="0"/>
                <a:cs typeface="Times New Roman" panose="02020603050405020304" charset="0"/>
              </a:rPr>
              <a:t>Alert and Notification Module </a:t>
            </a: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– automatically sends alerts , if an unknown or unauthorized person is detected.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B56B2-C250-AB01-0A01-CCE4144EA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6489" y="704470"/>
            <a:ext cx="8596668" cy="1320800"/>
          </a:xfrm>
        </p:spPr>
        <p:txBody>
          <a:bodyPr/>
          <a:lstStyle/>
          <a:p>
            <a:pPr algn="ctr"/>
            <a:r>
              <a:rPr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44377" y="2233377"/>
            <a:ext cx="7722642" cy="3424107"/>
          </a:xfrm>
        </p:spPr>
        <p:txBody>
          <a:bodyPr>
            <a:noAutofit/>
          </a:bodyPr>
          <a:lstStyle/>
          <a:p>
            <a:endParaRPr dirty="0"/>
          </a:p>
          <a:p>
            <a:pPr>
              <a:defRPr sz="2000"/>
            </a:pPr>
            <a:r>
              <a:rPr lang="en-US" altLang="en-US" sz="2400" dirty="0">
                <a:cs typeface="Times New Roman" panose="02020603050405020304" charset="0"/>
              </a:rPr>
              <a:t>To detect motion in a secured area using a camera.</a:t>
            </a:r>
          </a:p>
          <a:p>
            <a:pPr>
              <a:defRPr sz="2000"/>
            </a:pPr>
            <a:r>
              <a:rPr lang="en-US" altLang="en-US" sz="2400" dirty="0">
                <a:cs typeface="Times New Roman" panose="02020603050405020304" charset="0"/>
              </a:rPr>
              <a:t>To Identify if the detected object is a human.</a:t>
            </a:r>
          </a:p>
          <a:p>
            <a:pPr>
              <a:defRPr sz="2000"/>
            </a:pPr>
            <a:r>
              <a:rPr lang="en-US" altLang="en-US" sz="2400" dirty="0">
                <a:cs typeface="Times New Roman" panose="02020603050405020304" charset="0"/>
              </a:rPr>
              <a:t>To recognize faces using AI and match with known faces.</a:t>
            </a:r>
          </a:p>
          <a:p>
            <a:pPr>
              <a:defRPr sz="2000"/>
            </a:pPr>
            <a:r>
              <a:rPr lang="en-US" altLang="en-US" sz="2400" dirty="0">
                <a:cs typeface="Times New Roman" panose="02020603050405020304" charset="0"/>
              </a:rPr>
              <a:t>To Send alerts if an unknown person is detected.</a:t>
            </a:r>
          </a:p>
          <a:p>
            <a:pPr>
              <a:defRPr sz="2000"/>
            </a:pPr>
            <a:r>
              <a:rPr lang="en-US" altLang="en-US" sz="2400" dirty="0">
                <a:cs typeface="Times New Roman" panose="02020603050405020304" charset="0"/>
              </a:rPr>
              <a:t>To Improve safety using </a:t>
            </a:r>
            <a:r>
              <a:rPr lang="en-US" altLang="en-US" sz="2500" dirty="0">
                <a:cs typeface="Times New Roman" panose="02020603050405020304" charset="0"/>
              </a:rPr>
              <a:t>automated</a:t>
            </a:r>
            <a:r>
              <a:rPr lang="en-US" altLang="en-US" sz="2400" dirty="0">
                <a:cs typeface="Times New Roman" panose="02020603050405020304" charset="0"/>
              </a:rPr>
              <a:t>, real-time monitoring.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C7875-F1D0-3E0F-A44C-3E3BD4254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B35B-3C47-7130-7ECC-AB0E0BD3B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477" y="365125"/>
            <a:ext cx="9043219" cy="1342884"/>
          </a:xfrm>
        </p:spPr>
        <p:txBody>
          <a:bodyPr/>
          <a:lstStyle/>
          <a:p>
            <a:pPr algn="ctr"/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Module 1: Motion Detection and Surveillance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A8B2F-A74D-4F71-C46E-AA737005F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96001"/>
            <a:ext cx="6209475" cy="3880773"/>
          </a:xfrm>
        </p:spPr>
        <p:txBody>
          <a:bodyPr>
            <a:normAutofit/>
          </a:bodyPr>
          <a:lstStyle/>
          <a:p>
            <a:r>
              <a:rPr lang="en-US" sz="2600" dirty="0"/>
              <a:t>Continuously monitors video feeds from surveillance cameras.</a:t>
            </a:r>
          </a:p>
          <a:p>
            <a:r>
              <a:rPr lang="en-US" sz="2600" dirty="0"/>
              <a:t>If motion is detected, checks for the presence of faces in the moving region.</a:t>
            </a:r>
          </a:p>
          <a:p>
            <a:r>
              <a:rPr lang="en-US" sz="2600" dirty="0"/>
              <a:t>Applies AI-based face detection techniques to locate faces for further processing.</a:t>
            </a:r>
          </a:p>
          <a:p>
            <a:r>
              <a:rPr lang="en-US" sz="2600" dirty="0"/>
              <a:t>Prepares data for human verification and face recognition modules.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44F591-8D05-FE05-6A83-BF46C89E301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375D3D-C829-9443-9373-C863B6E55657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37C367-698E-A277-8025-CF88AFC3F9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9620" y="1708009"/>
            <a:ext cx="4511431" cy="416850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F55207-818F-0EDC-6C66-C27AB953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7518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A208B-BD69-860B-96A3-D9494135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6" y="483435"/>
            <a:ext cx="10364451" cy="1596177"/>
          </a:xfrm>
        </p:spPr>
        <p:txBody>
          <a:bodyPr/>
          <a:lstStyle/>
          <a:p>
            <a:pPr algn="ctr"/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Module 2: </a:t>
            </a:r>
            <a:b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Human Detection and Face Recognition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EDD8C-C6DC-4D7E-4546-773213421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4910" y="2483427"/>
            <a:ext cx="6813077" cy="376988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Confirms whether detected motion belongs to a human.</a:t>
            </a:r>
          </a:p>
          <a:p>
            <a:r>
              <a:rPr lang="en-US" dirty="0"/>
              <a:t>Once a human is detected, locates the face using face detection algorithms and verifies.</a:t>
            </a:r>
          </a:p>
          <a:p>
            <a:r>
              <a:rPr lang="en-US" dirty="0"/>
              <a:t>Compares the detected face with a database of authorized individuals using face recognition models.</a:t>
            </a:r>
          </a:p>
          <a:p>
            <a:r>
              <a:rPr lang="en-US" dirty="0"/>
              <a:t>Flags unknown or suspicious faces for immediate alerts and further review.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2B7F60-874C-A041-D15B-FCC15FF300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DB01CC9-FC68-3F03-A352-9D9B430999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D6E8C4-749E-732B-C57F-713D8CCC2A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55771" y="2153401"/>
            <a:ext cx="3162574" cy="409991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3CCDA18-D856-B2AC-02DC-39B30993C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61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31F77-4DF7-6D0B-2145-49590365F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latin typeface="Times New Roman" panose="02020603050405020304" charset="0"/>
                <a:cs typeface="Times New Roman" panose="02020603050405020304" charset="0"/>
              </a:rPr>
              <a:t>Module  3: Alert and Notification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06C049-40CB-2430-71D0-B9C7DD653E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972163" cy="3880773"/>
          </a:xfrm>
        </p:spPr>
        <p:txBody>
          <a:bodyPr>
            <a:normAutofit fontScale="92500"/>
          </a:bodyPr>
          <a:lstStyle/>
          <a:p>
            <a:pPr algn="just"/>
            <a:r>
              <a:rPr lang="en-US" dirty="0"/>
              <a:t>Sends instant alerts via </a:t>
            </a:r>
            <a:r>
              <a:rPr lang="en-US" dirty="0" err="1"/>
              <a:t>whatsapp</a:t>
            </a:r>
            <a:r>
              <a:rPr lang="en-US" dirty="0"/>
              <a:t>  through </a:t>
            </a:r>
            <a:r>
              <a:rPr lang="en-US" dirty="0" err="1"/>
              <a:t>api</a:t>
            </a:r>
            <a:r>
              <a:rPr lang="en-US" dirty="0"/>
              <a:t> when an unauthorized intruder is detected.</a:t>
            </a:r>
          </a:p>
          <a:p>
            <a:pPr algn="just"/>
            <a:r>
              <a:rPr lang="en-US" dirty="0"/>
              <a:t>Activates security lights to deter intruders.</a:t>
            </a:r>
          </a:p>
          <a:p>
            <a:pPr algn="just"/>
            <a:r>
              <a:rPr lang="en-US" dirty="0"/>
              <a:t>Records and logs details of the event for later analysis.</a:t>
            </a:r>
          </a:p>
          <a:p>
            <a:pPr algn="just"/>
            <a:r>
              <a:rPr lang="en-US" dirty="0"/>
              <a:t>Provides real-time updates and status reports to security personnel.</a:t>
            </a:r>
          </a:p>
          <a:p>
            <a:pPr algn="just"/>
            <a:r>
              <a:rPr lang="en-US" dirty="0"/>
              <a:t>Supports customizable notification settings for different types of events.</a:t>
            </a:r>
          </a:p>
          <a:p>
            <a:pPr algn="just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549D3-8C6E-166B-D5AD-3250740DFD17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24B08C-ED45-8169-9A23-17A430FFA70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67AF9A-C730-9126-74A6-D3B72CCEA6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436" y="1708009"/>
            <a:ext cx="2674852" cy="4359018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C9FE657-E948-A810-7056-B38B197BD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301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59764" y="863068"/>
            <a:ext cx="6202950" cy="585123"/>
          </a:xfrm>
        </p:spPr>
        <p:txBody>
          <a:bodyPr>
            <a:normAutofit fontScale="90000"/>
          </a:bodyPr>
          <a:lstStyle/>
          <a:p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841E73-2D44-5478-1E56-0CB939FF0905}"/>
              </a:ext>
            </a:extLst>
          </p:cNvPr>
          <p:cNvSpPr txBox="1"/>
          <p:nvPr/>
        </p:nvSpPr>
        <p:spPr>
          <a:xfrm>
            <a:off x="846252" y="1856230"/>
            <a:ext cx="7604649" cy="3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cs typeface="Times New Roman" panose="02020603050405020304" pitchFamily="18" charset="0"/>
              </a:rPr>
              <a:t>Develop an optimized smart surveillance system using a five-module pipeline:</a:t>
            </a:r>
            <a:br>
              <a:rPr lang="en-IN" sz="2100" dirty="0">
                <a:cs typeface="Times New Roman" panose="02020603050405020304" pitchFamily="18" charset="0"/>
              </a:rPr>
            </a:br>
            <a:r>
              <a:rPr lang="en-IN" sz="2100" dirty="0">
                <a:cs typeface="Times New Roman" panose="02020603050405020304" pitchFamily="18" charset="0"/>
              </a:rPr>
              <a:t>Motion Detection → Face Detection → Face Recognition → Unknown Face Storage → Intruder Alert (WhatsApp via Twilio).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cs typeface="Times New Roman" panose="02020603050405020304" pitchFamily="18" charset="0"/>
              </a:rPr>
              <a:t>The system activates face detection only when motion is detected to reduce unnecessary processing.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100" dirty="0">
                <a:cs typeface="Times New Roman" panose="02020603050405020304" pitchFamily="18" charset="0"/>
              </a:rPr>
              <a:t>If an unknown intruder is detected, the system sends the captured image instantly via WhatsApp.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2CADD56-BC11-CD2B-3E76-1EE27DCC45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9258" y="1534510"/>
            <a:ext cx="2895600" cy="5001625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EC8A635-6D63-6BC9-81BB-C0474C55E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7998" y="845885"/>
            <a:ext cx="8596668" cy="1320800"/>
          </a:xfrm>
        </p:spPr>
        <p:txBody>
          <a:bodyPr/>
          <a:lstStyle/>
          <a:p>
            <a:r>
              <a:rPr dirty="0"/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lang="en-US" dirty="0"/>
              <a:t>The system accurately detected motion and triggered face recognition only when needed, saving processing time.</a:t>
            </a:r>
          </a:p>
          <a:p>
            <a:r>
              <a:rPr lang="en-US" dirty="0"/>
              <a:t> Face recognition identified known individuals with about </a:t>
            </a:r>
            <a:r>
              <a:rPr lang="en-US" b="1" dirty="0"/>
              <a:t>90–93% accuracy</a:t>
            </a:r>
            <a:r>
              <a:rPr lang="en-US" dirty="0"/>
              <a:t>, and unknown faces were flagged correctly.</a:t>
            </a:r>
          </a:p>
          <a:p>
            <a:r>
              <a:rPr lang="en-US" dirty="0"/>
              <a:t> The alert system sent notifications within </a:t>
            </a:r>
            <a:r>
              <a:rPr lang="en-US" b="1" dirty="0"/>
              <a:t>2–3 seconds</a:t>
            </a:r>
            <a:r>
              <a:rPr lang="en-US" dirty="0"/>
              <a:t>, including the intruder's image, detected date and time with image file.</a:t>
            </a:r>
          </a:p>
          <a:p>
            <a:r>
              <a:rPr lang="en-US" dirty="0"/>
              <a:t> The system performed best in </a:t>
            </a:r>
            <a:r>
              <a:rPr lang="en-US"/>
              <a:t>well-lit areas, </a:t>
            </a:r>
            <a:r>
              <a:rPr lang="en-US" dirty="0"/>
              <a:t>low-light conditions slightly reduced accuracy.</a:t>
            </a:r>
          </a:p>
          <a:p>
            <a:r>
              <a:rPr lang="en-US" dirty="0"/>
              <a:t>Overall, the system was fast, reliable, and suitable for home or office security with very few false alarms.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D3F8F-5C3C-E1B1-AD04-66683A3E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Challenges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Face recognition may fail in low-light or dark environments.</a:t>
            </a:r>
          </a:p>
          <a:p>
            <a:r>
              <a:rPr lang="en-US" dirty="0"/>
              <a:t>Accuracy drops if the face is partially covered or turned away.</a:t>
            </a:r>
          </a:p>
          <a:p>
            <a:r>
              <a:rPr lang="en-US" dirty="0"/>
              <a:t>The system needs internet access to send alerts.</a:t>
            </a:r>
          </a:p>
          <a:p>
            <a:r>
              <a:rPr lang="en-US" dirty="0"/>
              <a:t>Only faces stored in the database can be recognized.</a:t>
            </a:r>
          </a:p>
          <a:p>
            <a:r>
              <a:rPr lang="en-US" dirty="0"/>
              <a:t>Low-end hardware can cause delays in detection and processing.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D64CBF-107F-12FE-A9E6-28A0153CC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Add night vision support for low-light detection.</a:t>
            </a:r>
          </a:p>
          <a:p>
            <a:r>
              <a:rPr lang="en-US" dirty="0"/>
              <a:t>Track intruders across multiple cameras.</a:t>
            </a:r>
          </a:p>
          <a:p>
            <a:r>
              <a:rPr lang="en-US" dirty="0"/>
              <a:t>Let the system learn and improve over time using AI.</a:t>
            </a:r>
          </a:p>
          <a:p>
            <a:r>
              <a:rPr lang="en-US" dirty="0"/>
              <a:t>Connect with drones for outdoor intruder tracking.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64B580-990F-6E52-E401-9B2FC9D66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63434" y="619125"/>
            <a:ext cx="8596668" cy="1320800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The system detects motion and recognizes faces accurately.</a:t>
            </a:r>
          </a:p>
          <a:p>
            <a:r>
              <a:rPr lang="en-US" dirty="0"/>
              <a:t>It sends instant alerts when an unknown person is found.</a:t>
            </a:r>
          </a:p>
          <a:p>
            <a:r>
              <a:rPr lang="en-US" dirty="0"/>
              <a:t>Helps improve security in homes and offices.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B394-FA09-C254-AC0C-141DA9982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253" y="591085"/>
            <a:ext cx="10364451" cy="1596177"/>
          </a:xfrm>
        </p:spPr>
        <p:txBody>
          <a:bodyPr/>
          <a:lstStyle/>
          <a:p>
            <a:r>
              <a:rPr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012" y="1716946"/>
            <a:ext cx="11237976" cy="3424107"/>
          </a:xfrm>
        </p:spPr>
        <p:txBody>
          <a:bodyPr>
            <a:noAutofit/>
          </a:bodyPr>
          <a:lstStyle/>
          <a:p>
            <a:r>
              <a:rPr lang="en-US" dirty="0"/>
              <a:t>Kaur, B. D. (2024). </a:t>
            </a:r>
            <a:r>
              <a:rPr lang="en-US" i="1" dirty="0"/>
              <a:t>AI system for detecting intruders using cameras and face recognition</a:t>
            </a:r>
            <a:r>
              <a:rPr lang="en-US" dirty="0"/>
              <a:t>. Springer – Intelligent Systems and Applications.</a:t>
            </a:r>
          </a:p>
          <a:p>
            <a:r>
              <a:rPr lang="en-US" dirty="0"/>
              <a:t>Rahim, A. et al. (2023). </a:t>
            </a:r>
            <a:r>
              <a:rPr lang="en-US" i="1" dirty="0"/>
              <a:t>Smart home security using face recognition and CNN models</a:t>
            </a:r>
            <a:r>
              <a:rPr lang="en-US" dirty="0"/>
              <a:t>. Sensors Journal.</a:t>
            </a:r>
          </a:p>
          <a:p>
            <a:r>
              <a:rPr lang="en-US" dirty="0"/>
              <a:t>Irfan, E., &amp; Jacob, C. (2024). </a:t>
            </a:r>
            <a:r>
              <a:rPr lang="en-US" i="1" dirty="0"/>
              <a:t>Face recognition using deep learning in CCTV systems</a:t>
            </a:r>
            <a:r>
              <a:rPr lang="en-US" dirty="0"/>
              <a:t>. IEEE Conference Proceedings.</a:t>
            </a:r>
          </a:p>
          <a:p>
            <a:r>
              <a:rPr lang="en-US" dirty="0"/>
              <a:t>Pasha, M. J. et al. (2023). </a:t>
            </a:r>
            <a:r>
              <a:rPr lang="en-US" i="1" dirty="0"/>
              <a:t>AI-based intruder detection and alert system for homes</a:t>
            </a:r>
            <a:r>
              <a:rPr lang="en-US" dirty="0"/>
              <a:t>. International Journal of Intelligent Systems.</a:t>
            </a:r>
          </a:p>
          <a:p>
            <a:r>
              <a:rPr lang="en-US" dirty="0"/>
              <a:t>Kunwar, A. (2025). </a:t>
            </a:r>
            <a:r>
              <a:rPr lang="en-US" i="1" dirty="0"/>
              <a:t>Face recognition and spoofing detection using AI models</a:t>
            </a:r>
            <a:r>
              <a:rPr lang="en-US" dirty="0"/>
              <a:t>. </a:t>
            </a:r>
            <a:r>
              <a:rPr lang="en-US" dirty="0" err="1"/>
              <a:t>arXiv</a:t>
            </a:r>
            <a:r>
              <a:rPr lang="en-US" dirty="0"/>
              <a:t> preprint.</a:t>
            </a:r>
          </a:p>
          <a:p>
            <a:pPr>
              <a:defRPr sz="2000"/>
            </a:pP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C4CD43-3CEA-CA04-C3E9-2100D1356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411" y="2145565"/>
            <a:ext cx="11275177" cy="2719043"/>
          </a:xfrm>
        </p:spPr>
        <p:txBody>
          <a:bodyPr>
            <a:normAutofit/>
          </a:bodyPr>
          <a:lstStyle/>
          <a:p>
            <a:r>
              <a:rPr sz="9600" dirty="0"/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37831-C264-74AE-82DD-AC134ECB7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</TotalTime>
  <Words>769</Words>
  <Application>Microsoft Office PowerPoint</Application>
  <PresentationFormat>Widescreen</PresentationFormat>
  <Paragraphs>85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AI-Based Intelligent Intrusion Detection and Real-Time Security Monitoring System</vt:lpstr>
      <vt:lpstr>Introduction</vt:lpstr>
      <vt:lpstr>Objectives</vt:lpstr>
      <vt:lpstr>Module 1: Motion Detection and Surveillance</vt:lpstr>
      <vt:lpstr>Module 2:  Human Detection and Face Recognition</vt:lpstr>
      <vt:lpstr>Module  3: Alert and Notification</vt:lpstr>
      <vt:lpstr>Implementation </vt:lpstr>
      <vt:lpstr>Results &amp; Discussion</vt:lpstr>
      <vt:lpstr>Challenges &amp; Limitations</vt:lpstr>
      <vt:lpstr>Future Scope</vt:lpstr>
      <vt:lpstr>Conclusion</vt:lpstr>
      <vt:lpstr>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creator>sankar</dc:creator>
  <dc:description>generated using python-pptx</dc:description>
  <cp:lastModifiedBy>sreeshanthkrishna@outlook.com</cp:lastModifiedBy>
  <cp:revision>8</cp:revision>
  <dcterms:created xsi:type="dcterms:W3CDTF">2013-01-27T09:14:00Z</dcterms:created>
  <dcterms:modified xsi:type="dcterms:W3CDTF">2026-08-01T04:58:24Z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173E1A77A1EE4787AC6E92E98F3AD854_12</vt:lpwstr>
  </property>
  <property fmtid="{D5CDD505-2E9C-101B-9397-08002B2CF9AE}" pid="3" name="KSOProductBuildVer">
    <vt:lpwstr>1033-12.2.0.21546</vt:lpwstr>
  </property>
</Properties>
</file>